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建议用时：12秒。
大家好，我汇报医用抗菌水凝胶创面敷料的研究进展。封面图片来自一项关节活动部位敷料研究，展示的是材料演示，不是临床疗效。接下来我会沿着制备工艺、网络结构、抗菌作用和性能之间的关系展开。
补充：原图：Yang等，Advanced Science，2021，Fig. 1c–e；文献[11]。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建议用时：27秒。
活动部位的创面更难覆盖。Yang等在文中讨论纱布覆盖关节时可能出现的覆盖不足、活动受限和抗菌功能缺失，并用关节模型演示了水凝胶的拉伸与黏附。这个例子说明，敷料的性能指标应该从具体创面任务来选。
补充：图为文献[11]原图局部，Fig. 1c–e；实验室/身体部位展示，不代表患者临床结果。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建议用时：30秒。
这里把四项代表性研究放在时间线上比较。2021年的工作把纤维素增强骨架、阳离子抗菌和黏附结合起来；2024年的工作转向固定化抗生物膜；2025年，一项研究做抗菌水凝胶膜，另一项解决三维打印墨水的流变和成型。它们展示的是设计重点的扩展，不是整个领域只有这一条发展路线。
补充：[14]需结合其2025年作者更正[15]阅读。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建议用时：45秒。
这页直接用了Chen等论文报告的两个结果。左边，在剪切速率0.1每秒时，CS浓度从4%增至7%，黏度从1633.7升到5379.8帕秒。高黏度本身并不意味着打印更好。右边看沉积线宽与喷嘴直径之比，6:30配方的扩张率1.1更接近1；原文还报告4:30不能自支撑，7:30不可打印。这就把流变数据和成型结果接上了。
补充：横轴类别来自原文配方标记；两组黏度是固定剪切速率的报告值，不是拟合曲线。α为无量纲比值。图为按论文明确报告值重绘；来源段落未报告这几项的误差范围或n。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建议用时：52秒。
这里展示Zhang等论文的完整Fig. 4。βLys50HG50是膜中的抗菌肽聚合物，作者将其描述为宿主防御肽模拟物。MRSA和大肠杆菌与敷料共培养6小时后，相对PBS组的菌落数分别下降4.75和5.13个log CFU；每组n=3，原文以均值和标准差展示。SEM显示菌体表面收缩和结构受损。肽与细菌膜相互作用可能参与杀菌，但该研究没有逐步验证完整分子通路。
补充：菌种为MRSA 300 LAC与E. coli 25922；6 h、37 °C。SEM提供形貌证据，不能单独说明分子通路的全部步骤。原始 Fig. 4a–g 整图嵌入，未裁切或改动实验图数据。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建议用时：50秒。
这是同一成膜体系内的配方比较。左边，单宁酸从0增至1.0质量百分数，原文报告拉伸强度从0.06±0.01升至0.2±0.04兆帕，断裂力也从0.072增至0.268牛。右边是猪皮剪切黏附，TA从0.25%到1.0%时，黏附强度从3.28±0.28升至5.37±0.65千帕。这些是不同测试指标，不能混成一个总性能分数。
补充：原文每组n=3；均值±SD。图为按论文报告的均值和标准差重绘，拉伸强度使用0%与1.0% TA端点，黏附强度为0.25%、0.5%、1.0%；不包含未报告的原始重复值。原始数据见Fig. 2i、j、m、n。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建议用时：33秒。
最后用同一项研究把主线连起来。氨基和醛基四臂PEG形成席夫碱网络，单宁酸通过与PEG链的氢键增强网络耗能，β肽聚合物提供抗菌功能。前驱液喷涂和溶剂蒸发形成膜，吸液后成为水凝胶膜。右侧嵌入完整Fig. 3，其中(e)是β肽在不同pH缓冲液中的累积释放曲线，测试环境改变时曲线也不同。
补充：Fig. 3e，n=3，原文以均值±SD表示。整张Fig. 3原图保持不变；不据此计算扩散系数或外推临床创面浓度。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建议用时：28秒。
回答封面的问题：制备工艺通过交联和成型改变网络结构；网络再影响吸液、抗菌肽释放和湿态力学；这些因素共同决定抗菌作用及敷料使用表现。成膜研究同时测了释放、抗菌、力学和黏附，因此这条链条在特定配方中有对应数据。它仍然是小鼠模型和体外证据，不能直接当作临床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建议用时：0秒。
这是答疑页。扩散时间尺度和扩散距离平方成正比，但该研究没有报告β肽在该膜中的有效扩散系数，也没有系统改变膜厚来验证平方关系。因此我们只能用公式解释“厚度会影响传递路径”这个方向，不能拿它预测这篇材料的具体释放时间。
补充：如果老师追问D_eff：据现有文献数据不知道，需要通过厚度系列或独立扩散实验确定。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建议用时：0秒。
此页用于文献追溯，主讲无需停留。报告编号保持不变；[14]与作者更正[15]一并处理。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57143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46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DD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创面敷料 · 研究进展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医用抗菌水凝胶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6291072"/>
            <a:ext cx="11128248" cy="0"/>
          </a:xfrm>
          <a:prstGeom prst="line">
            <a:avLst/>
          </a:prstGeom>
          <a:noFill/>
          <a:ln w="10160">
            <a:solidFill>
              <a:srgbClr val="39556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杨果｜课程报告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36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7132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制备工艺如何改变网络？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40080" y="226771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网络又怎样决定抗菌作用与使用性能？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58368" y="36850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从交联与成型，追到界面作用和配方数据</a:t>
            </a:r>
            <a:endParaRPr lang="en-US" sz="1900" dirty="0"/>
          </a:p>
        </p:txBody>
      </p:sp>
      <p:pic>
        <p:nvPicPr>
          <p:cNvPr id="11" name="Image 0" descr="/workspace/scratch/hydrogel/presentation-v2/assets/cover-demon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437749"/>
            <a:ext cx="4160520" cy="116868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79792" y="4718304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文献[11] Fig. 1局部裁切；材料展示，非临床照片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57143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46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为什么研究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活动部位敷料：覆盖、贴合和抗菌要同时考虑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6291072"/>
            <a:ext cx="11128248" cy="0"/>
          </a:xfrm>
          <a:prstGeom prst="line">
            <a:avLst/>
          </a:prstGeom>
          <a:noFill/>
          <a:ln w="1016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文献[11]；上传报告第1、6节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36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4892040" cy="4233672"/>
          </a:xfrm>
          <a:prstGeom prst="rect">
            <a:avLst>
              <a:gd name="adj" fmla="val 1728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051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常规覆盖的难点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4069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关节反复活动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敷料容易移位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换药和固定带来负担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932688" y="4370832"/>
            <a:ext cx="4160520" cy="0"/>
          </a:xfrm>
          <a:prstGeom prst="line">
            <a:avLst/>
          </a:prstGeom>
          <a:noFill/>
          <a:ln w="1270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32688" y="45902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材料需求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29968" y="4535424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贴合 × 延展 × 抗菌</a:t>
            </a:r>
            <a:endParaRPr lang="en-US" sz="2200" dirty="0"/>
          </a:p>
        </p:txBody>
      </p:sp>
      <p:pic>
        <p:nvPicPr>
          <p:cNvPr id="14" name="Image 0" descr="/workspace/scratch/hydrogel/presentation-v2/assets/cover-demon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433537"/>
            <a:ext cx="5394960" cy="151543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48280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文献中的关节覆盖演示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126480" y="52760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对应的是材料设计需求；疗效需由后续模型单独评价。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57143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46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研究脉络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代表性研究把“抗菌”逐步接到结构和成型上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6291072"/>
            <a:ext cx="11128248" cy="0"/>
          </a:xfrm>
          <a:prstGeom prst="line">
            <a:avLst/>
          </a:prstGeom>
          <a:noFill/>
          <a:ln w="1016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精选案例时间线；编号沿用上传报告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36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816352"/>
            <a:ext cx="10241280" cy="0"/>
          </a:xfrm>
          <a:prstGeom prst="line">
            <a:avLst/>
          </a:prstGeom>
          <a:noFill/>
          <a:ln w="3810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60120" y="2651760"/>
            <a:ext cx="329184" cy="329184"/>
          </a:xfrm>
          <a:prstGeom prst="ellipse">
            <a:avLst/>
          </a:prstGeom>
          <a:solidFill>
            <a:srgbClr val="3F7FB5"/>
          </a:solidFill>
          <a:ln w="6350">
            <a:solidFill>
              <a:srgbClr val="3F7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659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7F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86968" y="23500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[11]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接触与贴合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776472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纤维素刷增强骨架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季铵盐参与抗菌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多巴胺结构辅助黏附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343400" y="2651760"/>
            <a:ext cx="329184" cy="329184"/>
          </a:xfrm>
          <a:prstGeom prst="ellipse">
            <a:avLst/>
          </a:prstGeom>
          <a:solidFill>
            <a:srgbClr val="C77525"/>
          </a:solidFill>
          <a:ln w="6350">
            <a:solidFill>
              <a:srgbClr val="C775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9659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7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270248" y="23500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[14,15]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抗生物膜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06240" y="3776472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阳离子聚合物固定化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与抗氧化组分组合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关注生物膜感染模型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98080" y="2651760"/>
            <a:ext cx="329184" cy="329184"/>
          </a:xfrm>
          <a:prstGeom prst="ellipse">
            <a:avLst/>
          </a:prstGeom>
          <a:solidFill>
            <a:srgbClr val="087F83"/>
          </a:solidFill>
          <a:ln w="6350">
            <a:solidFill>
              <a:srgbClr val="087F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9659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24928" y="23500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[20]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6092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薄膜与动态网络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60920" y="3776472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四臂PEG亚胺成网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TA氢键耗散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β肽聚合物抗菌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555480" y="2651760"/>
            <a:ext cx="329184" cy="329184"/>
          </a:xfrm>
          <a:prstGeom prst="ellipse">
            <a:avLst/>
          </a:prstGeom>
          <a:solidFill>
            <a:srgbClr val="448D70"/>
          </a:solidFill>
          <a:ln w="6350">
            <a:solidFill>
              <a:srgbClr val="448D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19659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8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482328" y="23500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[13]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1832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打印与纳米黏土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418320" y="3776472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壳聚糖/HNTs墨水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剪切变稀、DIW成型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左氧氟沙星递送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31520" y="5330952"/>
            <a:ext cx="10881360" cy="502920"/>
          </a:xfrm>
          <a:prstGeom prst="rect">
            <a:avLst>
              <a:gd name="adj" fmla="val 14545"/>
            </a:avLst>
          </a:prstGeom>
          <a:solidFill>
            <a:srgbClr val="DFF1EF"/>
          </a:solidFill>
          <a:ln w="8890">
            <a:solidFill>
              <a:srgbClr val="DFF1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404104"/>
            <a:ext cx="10515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这是本次选取的几条路线；时间线用来比较设计侧重点，不代表领域的唯一演化顺序。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57143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46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原始研究｜流变与成型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打印墨水有两个窗口：喷嘴内能流动，沉积后能保形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6291072"/>
            <a:ext cx="11128248" cy="0"/>
          </a:xfrm>
          <a:prstGeom prst="line">
            <a:avLst/>
          </a:prstGeom>
          <a:noFill/>
          <a:ln w="1016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文献[13] Chen等，Bioactive Materials，2025；DOI: 10.1016/j.bioactmat.2025.08.024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36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527048"/>
            <a:ext cx="5577840" cy="4462272"/>
          </a:xfrm>
          <a:prstGeom prst="rect">
            <a:avLst>
              <a:gd name="adj" fmla="val 1639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55648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同一剪切速率 0.1 s⁻¹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96112" y="21579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表观黏度 / Pa·s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234440" y="2697480"/>
            <a:ext cx="0" cy="2359152"/>
          </a:xfrm>
          <a:prstGeom prst="line">
            <a:avLst/>
          </a:prstGeom>
          <a:noFill/>
          <a:ln w="1270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234440" y="5056632"/>
            <a:ext cx="4526280" cy="0"/>
          </a:xfrm>
          <a:prstGeom prst="line">
            <a:avLst/>
          </a:prstGeom>
          <a:noFill/>
          <a:ln w="1270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188720" y="5056632"/>
            <a:ext cx="73152" cy="0"/>
          </a:xfrm>
          <a:prstGeom prst="line">
            <a:avLst/>
          </a:prstGeom>
          <a:noFill/>
          <a:ln w="1143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768096" y="49194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4270248"/>
            <a:ext cx="73152" cy="0"/>
          </a:xfrm>
          <a:prstGeom prst="line">
            <a:avLst/>
          </a:prstGeom>
          <a:noFill/>
          <a:ln w="1143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768096" y="413308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88720" y="3483864"/>
            <a:ext cx="73152" cy="0"/>
          </a:xfrm>
          <a:prstGeom prst="line">
            <a:avLst/>
          </a:prstGeom>
          <a:noFill/>
          <a:ln w="1143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768096" y="33467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2697480"/>
            <a:ext cx="73152" cy="0"/>
          </a:xfrm>
          <a:prstGeom prst="line">
            <a:avLst/>
          </a:prstGeom>
          <a:noFill/>
          <a:ln w="1143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768096" y="256032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74520" y="4414274"/>
            <a:ext cx="914400" cy="642358"/>
          </a:xfrm>
          <a:prstGeom prst="rect">
            <a:avLst>
              <a:gd name="adj" fmla="val 11388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406680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1,633.7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64792" y="5175504"/>
            <a:ext cx="1143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 4%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886200" y="2941338"/>
            <a:ext cx="914400" cy="2115294"/>
          </a:xfrm>
          <a:prstGeom prst="rect">
            <a:avLst>
              <a:gd name="adj" fmla="val 8000"/>
            </a:avLst>
          </a:prstGeom>
          <a:solidFill>
            <a:srgbClr val="C77525"/>
          </a:solidFill>
          <a:ln w="8890">
            <a:solidFill>
              <a:srgbClr val="C775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59386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5,379.8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76472" y="5175504"/>
            <a:ext cx="1143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 7%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" y="5605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原文报告值重绘；该段未给出 n 或误差范围。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1527048"/>
            <a:ext cx="5074920" cy="4462272"/>
          </a:xfrm>
          <a:prstGeom prst="rect">
            <a:avLst>
              <a:gd name="adj" fmla="val 1639"/>
            </a:avLst>
          </a:prstGeom>
          <a:solidFill>
            <a:srgbClr val="DFF1EF"/>
          </a:solidFill>
          <a:ln w="8890">
            <a:solidFill>
              <a:srgbClr val="DFF1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773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线宽扩张率 α = D / d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66560" y="22128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D：沉积线宽　d：喷嘴直径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022592" y="2907792"/>
            <a:ext cx="0" cy="2103120"/>
          </a:xfrm>
          <a:prstGeom prst="line">
            <a:avLst/>
          </a:prstGeom>
          <a:noFill/>
          <a:ln w="1270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022592" y="5029200"/>
            <a:ext cx="3977640" cy="0"/>
          </a:xfrm>
          <a:prstGeom prst="line">
            <a:avLst/>
          </a:prstGeom>
          <a:noFill/>
          <a:ln w="1270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976872" y="5029200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6519672" y="49011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76872" y="4743450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6519672" y="461543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1.25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76872" y="4457700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6519672" y="43296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1.50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76872" y="4171950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6519672" y="404393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1.75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76872" y="3886200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6519672" y="37581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772400" y="4137660"/>
            <a:ext cx="182880" cy="182880"/>
          </a:xfrm>
          <a:prstGeom prst="ellipse">
            <a:avLst/>
          </a:prstGeom>
          <a:solidFill>
            <a:srgbClr val="C77525"/>
          </a:solidFill>
          <a:ln w="6350">
            <a:solidFill>
              <a:srgbClr val="C7752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61504" y="37536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7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1.7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104888" y="51755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配方 5:30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509760" y="4823460"/>
            <a:ext cx="182880" cy="182880"/>
          </a:xfrm>
          <a:prstGeom prst="ellipse">
            <a:avLst/>
          </a:prstGeom>
          <a:solidFill>
            <a:srgbClr val="087F83"/>
          </a:solidFill>
          <a:ln w="6350">
            <a:solidFill>
              <a:srgbClr val="087F8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98864" y="44394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1.1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8842248" y="51755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配方 6:30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766560" y="55686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6:30 更接近 α = 1；4:30 无法自支撑，7:30 不可打印。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57143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46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原始研究｜抗菌机制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从活菌计数到SEM：抗菌作用有了可见结果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6291072"/>
            <a:ext cx="11128248" cy="0"/>
          </a:xfrm>
          <a:prstGeom prst="line">
            <a:avLst/>
          </a:prstGeom>
          <a:noFill/>
          <a:ln w="1016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文献[20] Zhang等，Bioactive Materials，2025，Fig. 4a–g；DOI: 10.1016/j.bioactmat.2025.07.026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36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pic>
        <p:nvPicPr>
          <p:cNvPr id="8" name="Image 0" descr="/workspace/scratch/hydrogel/presentation-v2/assets/R17-gr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978" y="1554480"/>
            <a:ext cx="506730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572768"/>
            <a:ext cx="4096512" cy="4462272"/>
          </a:xfrm>
          <a:prstGeom prst="rect">
            <a:avLst>
              <a:gd name="adj" fmla="val 1786"/>
            </a:avLst>
          </a:prstGeom>
          <a:solidFill>
            <a:srgbClr val="DFF1EF"/>
          </a:solidFill>
          <a:ln w="8890">
            <a:solidFill>
              <a:srgbClr val="DFF1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99248" y="1810512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体外共培养结果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44968" y="2423160"/>
            <a:ext cx="3429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h · 37 °C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MRSA 300 LAC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E. coli 25922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754112" y="3694176"/>
            <a:ext cx="3401568" cy="0"/>
          </a:xfrm>
          <a:prstGeom prst="line">
            <a:avLst/>
          </a:prstGeom>
          <a:noFill/>
          <a:ln w="1270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7699248" y="39136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相对 PBS 的菌落数下降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26680" y="4370832"/>
            <a:ext cx="1591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MRSA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4.75 log CFU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436608" y="4370832"/>
            <a:ext cx="1691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E. coli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5.13 log CFU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662672" y="5285232"/>
            <a:ext cx="3611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= 3；原文以均值 ± SD 报告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31520" y="5952744"/>
            <a:ext cx="10789920" cy="237744"/>
          </a:xfrm>
          <a:prstGeom prst="rect">
            <a:avLst>
              <a:gd name="adj" fmla="val 30769"/>
            </a:avLst>
          </a:prstGeom>
          <a:solidFill>
            <a:srgbClr val="FFF0DB"/>
          </a:solidFill>
          <a:ln w="8890">
            <a:solidFill>
              <a:srgbClr val="FFF0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59253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β肽借鉴宿主防御肽；膜作用可能参与杀菌，但该研究未逐步验证分子通路。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57143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46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原始研究｜性能调控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同一配方系列：力学和湿态黏附都随TA变化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6291072"/>
            <a:ext cx="11128248" cy="0"/>
          </a:xfrm>
          <a:prstGeom prst="line">
            <a:avLst/>
          </a:prstGeom>
          <a:noFill/>
          <a:ln w="1016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文献[20] Zhang等，Bioactive Materials，2025，Fig. 2i–j、2m–n；n =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36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527048"/>
            <a:ext cx="6400800" cy="4480560"/>
          </a:xfrm>
          <a:prstGeom prst="rect">
            <a:avLst>
              <a:gd name="adj" fmla="val 1633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37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拉伸强度｜TA 0 → 1.0 wt%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671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MPa｜均值 ± SD，n = 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17320" y="2670048"/>
            <a:ext cx="0" cy="2468880"/>
          </a:xfrm>
          <a:prstGeom prst="line">
            <a:avLst/>
          </a:prstGeom>
          <a:noFill/>
          <a:ln w="1270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17320" y="5138928"/>
            <a:ext cx="5029200" cy="0"/>
          </a:xfrm>
          <a:prstGeom prst="line">
            <a:avLst/>
          </a:prstGeom>
          <a:noFill/>
          <a:ln w="1270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371600" y="5138928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96112" y="5029200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645152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96112" y="4535424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151376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896112" y="4041648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3657600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96112" y="3547872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0.15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3163824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896112" y="3054096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2670048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96112" y="2560320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57400" y="4546397"/>
            <a:ext cx="960120" cy="592531"/>
          </a:xfrm>
          <a:prstGeom prst="rect">
            <a:avLst>
              <a:gd name="adj" fmla="val 12346"/>
            </a:avLst>
          </a:prstGeom>
          <a:solidFill>
            <a:srgbClr val="3F7FB5"/>
          </a:solidFill>
          <a:ln w="8890">
            <a:solidFill>
              <a:srgbClr val="3F7F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37460" y="4447642"/>
            <a:ext cx="0" cy="197510"/>
          </a:xfrm>
          <a:prstGeom prst="line">
            <a:avLst/>
          </a:prstGeom>
          <a:noFill/>
          <a:ln w="1778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313432" y="4447642"/>
            <a:ext cx="448056" cy="0"/>
          </a:xfrm>
          <a:prstGeom prst="line">
            <a:avLst/>
          </a:prstGeom>
          <a:noFill/>
          <a:ln w="1778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313432" y="4645152"/>
            <a:ext cx="448056" cy="0"/>
          </a:xfrm>
          <a:prstGeom prst="line">
            <a:avLst/>
          </a:prstGeom>
          <a:noFill/>
          <a:ln w="1778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600200" y="412760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0.06 ± 0.01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92808" y="5285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 0%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3163824"/>
            <a:ext cx="960120" cy="1975104"/>
          </a:xfrm>
          <a:prstGeom prst="rect">
            <a:avLst>
              <a:gd name="adj" fmla="val 7619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7740" y="2768803"/>
            <a:ext cx="0" cy="790042"/>
          </a:xfrm>
          <a:prstGeom prst="line">
            <a:avLst/>
          </a:prstGeom>
          <a:noFill/>
          <a:ln w="1778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4553712" y="2768803"/>
            <a:ext cx="448056" cy="0"/>
          </a:xfrm>
          <a:prstGeom prst="line">
            <a:avLst/>
          </a:prstGeom>
          <a:noFill/>
          <a:ln w="1778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553712" y="3558845"/>
            <a:ext cx="448056" cy="0"/>
          </a:xfrm>
          <a:prstGeom prst="line">
            <a:avLst/>
          </a:prstGeom>
          <a:noFill/>
          <a:ln w="1778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3840480" y="2448763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.2 ± 0.04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133088" y="5285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 1.0%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7552" y="56509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断裂力：0.072 → 0.268 N（原文报告）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269480" y="1527048"/>
            <a:ext cx="4279392" cy="4480560"/>
          </a:xfrm>
          <a:prstGeom prst="rect">
            <a:avLst>
              <a:gd name="adj" fmla="val 1709"/>
            </a:avLst>
          </a:prstGeom>
          <a:solidFill>
            <a:srgbClr val="DFF1EF"/>
          </a:solidFill>
          <a:ln w="8890">
            <a:solidFill>
              <a:srgbClr val="DFF1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25512" y="1746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猪皮剪切黏附｜kPa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7525512" y="21396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 ± SD，n = 3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726680" y="2743200"/>
            <a:ext cx="0" cy="2487168"/>
          </a:xfrm>
          <a:prstGeom prst="line">
            <a:avLst/>
          </a:prstGeom>
          <a:noFill/>
          <a:ln w="1270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7726680" y="5230368"/>
            <a:ext cx="3429000" cy="0"/>
          </a:xfrm>
          <a:prstGeom prst="line">
            <a:avLst/>
          </a:prstGeom>
          <a:noFill/>
          <a:ln w="1270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7680960" y="5230368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7315200" y="5120640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680960" y="4519749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7315200" y="4410021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680960" y="3809129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7315200" y="3699401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680960" y="3098510"/>
            <a:ext cx="73152" cy="0"/>
          </a:xfrm>
          <a:prstGeom prst="line">
            <a:avLst/>
          </a:prstGeom>
          <a:noFill/>
          <a:ln w="10160">
            <a:solidFill>
              <a:srgbClr val="526774"/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7315200" y="2988782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092440" y="4064952"/>
            <a:ext cx="640080" cy="1165416"/>
          </a:xfrm>
          <a:prstGeom prst="rect">
            <a:avLst>
              <a:gd name="adj" fmla="val 11429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12480" y="3965465"/>
            <a:ext cx="0" cy="198973"/>
          </a:xfrm>
          <a:prstGeom prst="line">
            <a:avLst/>
          </a:prstGeom>
          <a:noFill/>
          <a:ln w="1524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8247888" y="3965465"/>
            <a:ext cx="329184" cy="0"/>
          </a:xfrm>
          <a:prstGeom prst="line">
            <a:avLst/>
          </a:prstGeom>
          <a:noFill/>
          <a:ln w="1524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8247888" y="4164439"/>
            <a:ext cx="329184" cy="0"/>
          </a:xfrm>
          <a:prstGeom prst="line">
            <a:avLst/>
          </a:prstGeom>
          <a:noFill/>
          <a:ln w="1524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55" name="Text 53"/>
          <p:cNvSpPr/>
          <p:nvPr/>
        </p:nvSpPr>
        <p:spPr>
          <a:xfrm>
            <a:off x="7863840" y="3645425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3.28 ± 0.28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019288" y="537667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0.25%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116568" y="3823342"/>
            <a:ext cx="640080" cy="1407026"/>
          </a:xfrm>
          <a:prstGeom prst="rect">
            <a:avLst>
              <a:gd name="adj" fmla="val 11429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36608" y="3752280"/>
            <a:ext cx="0" cy="142124"/>
          </a:xfrm>
          <a:prstGeom prst="line">
            <a:avLst/>
          </a:prstGeom>
          <a:noFill/>
          <a:ln w="1524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9272016" y="3752280"/>
            <a:ext cx="329184" cy="0"/>
          </a:xfrm>
          <a:prstGeom prst="line">
            <a:avLst/>
          </a:prstGeom>
          <a:noFill/>
          <a:ln w="1524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9272016" y="3894403"/>
            <a:ext cx="329184" cy="0"/>
          </a:xfrm>
          <a:prstGeom prst="line">
            <a:avLst/>
          </a:prstGeom>
          <a:noFill/>
          <a:ln w="1524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61" name="Text 59"/>
          <p:cNvSpPr/>
          <p:nvPr/>
        </p:nvSpPr>
        <p:spPr>
          <a:xfrm>
            <a:off x="8887968" y="34322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3.96 ± 0.20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043416" y="537667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0.50%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10140696" y="3322355"/>
            <a:ext cx="640080" cy="1908013"/>
          </a:xfrm>
          <a:prstGeom prst="rect">
            <a:avLst>
              <a:gd name="adj" fmla="val 11429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60736" y="3091404"/>
            <a:ext cx="0" cy="461903"/>
          </a:xfrm>
          <a:prstGeom prst="line">
            <a:avLst/>
          </a:prstGeom>
          <a:noFill/>
          <a:ln w="1524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10296144" y="3091404"/>
            <a:ext cx="329184" cy="0"/>
          </a:xfrm>
          <a:prstGeom prst="line">
            <a:avLst/>
          </a:prstGeom>
          <a:noFill/>
          <a:ln w="1524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10296144" y="3553306"/>
            <a:ext cx="329184" cy="0"/>
          </a:xfrm>
          <a:prstGeom prst="line">
            <a:avLst/>
          </a:prstGeom>
          <a:noFill/>
          <a:ln w="15240">
            <a:solidFill>
              <a:srgbClr val="12344A"/>
            </a:solidFill>
            <a:prstDash val="solid"/>
            <a:headEnd type="none"/>
            <a:tailEnd type="none"/>
          </a:ln>
        </p:spPr>
      </p:sp>
      <p:sp>
        <p:nvSpPr>
          <p:cNvPr id="67" name="Text 65"/>
          <p:cNvSpPr/>
          <p:nvPr/>
        </p:nvSpPr>
        <p:spPr>
          <a:xfrm>
            <a:off x="9912096" y="277136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5.37 ± 0.65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0067544" y="537667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57143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46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过程整合｜成膜案例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一张膜把工艺、网络、释放和抗菌连在一起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6291072"/>
            <a:ext cx="11128248" cy="0"/>
          </a:xfrm>
          <a:prstGeom prst="line">
            <a:avLst/>
          </a:prstGeom>
          <a:noFill/>
          <a:ln w="1016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文献[20] Zhang等，Bioactive Materials，2025，Fig. 1、3e；DOI: 10.1016/j.bioactmat.2025.07.026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36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527048"/>
            <a:ext cx="4937760" cy="4462272"/>
          </a:xfrm>
          <a:prstGeom prst="rect">
            <a:avLst>
              <a:gd name="adj" fmla="val 1639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37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成膜与成网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960120" y="2286000"/>
            <a:ext cx="4251960" cy="530352"/>
          </a:xfrm>
          <a:prstGeom prst="rect">
            <a:avLst>
              <a:gd name="adj" fmla="val 13793"/>
            </a:avLst>
          </a:prstGeom>
          <a:solidFill>
            <a:srgbClr val="F5F8FA"/>
          </a:solidFill>
          <a:ln w="8890">
            <a:solidFill>
              <a:srgbClr val="F5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386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4-arm PEG–NH₂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23865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4-arm PEG–CHO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44368" y="2852928"/>
            <a:ext cx="0" cy="210312"/>
          </a:xfrm>
          <a:prstGeom prst="line">
            <a:avLst/>
          </a:prstGeom>
          <a:noFill/>
          <a:ln w="25400">
            <a:solidFill>
              <a:srgbClr val="087F8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0120" y="3099816"/>
            <a:ext cx="4251960" cy="530352"/>
          </a:xfrm>
          <a:prstGeom prst="rect">
            <a:avLst>
              <a:gd name="adj" fmla="val 13793"/>
            </a:avLst>
          </a:prstGeom>
          <a:solidFill>
            <a:srgbClr val="DFF1EF"/>
          </a:solidFill>
          <a:ln w="8890">
            <a:solidFill>
              <a:srgbClr val="DFF1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席夫碱网络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3200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TA–PEG氢键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44368" y="3666744"/>
            <a:ext cx="0" cy="210312"/>
          </a:xfrm>
          <a:prstGeom prst="line">
            <a:avLst/>
          </a:prstGeom>
          <a:noFill/>
          <a:ln w="25400">
            <a:solidFill>
              <a:srgbClr val="087F8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0120" y="3913632"/>
            <a:ext cx="4251960" cy="530352"/>
          </a:xfrm>
          <a:prstGeom prst="rect">
            <a:avLst>
              <a:gd name="adj" fmla="val 13793"/>
            </a:avLst>
          </a:prstGeom>
          <a:solidFill>
            <a:srgbClr val="F5F8FA"/>
          </a:solidFill>
          <a:ln w="8890">
            <a:solidFill>
              <a:srgbClr val="F5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014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βLys50HG50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63240" y="40142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抗菌肽聚合物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44368" y="4480560"/>
            <a:ext cx="0" cy="210312"/>
          </a:xfrm>
          <a:prstGeom prst="line">
            <a:avLst/>
          </a:prstGeom>
          <a:noFill/>
          <a:ln w="25400">
            <a:solidFill>
              <a:srgbClr val="087F8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" y="4727448"/>
            <a:ext cx="4251960" cy="530352"/>
          </a:xfrm>
          <a:prstGeom prst="rect">
            <a:avLst>
              <a:gd name="adj" fmla="val 13793"/>
            </a:avLst>
          </a:prstGeom>
          <a:solidFill>
            <a:srgbClr val="DFF1EF"/>
          </a:solidFill>
          <a:ln w="8890">
            <a:solidFill>
              <a:srgbClr val="DFF1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828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喷涂／溶剂蒸发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63240" y="48280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形成水凝胶膜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" y="5596128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前驱液流动 → 铺展成膜 → 吸液后成胶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15584" y="1527048"/>
            <a:ext cx="5733288" cy="4462272"/>
          </a:xfrm>
          <a:prstGeom prst="rect">
            <a:avLst>
              <a:gd name="adj" fmla="val 1639"/>
            </a:avLst>
          </a:prstGeom>
          <a:solidFill>
            <a:srgbClr val="DFF1EF"/>
          </a:solidFill>
          <a:ln w="8890">
            <a:solidFill>
              <a:srgbClr val="DFF1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9904" y="1737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原始数据图｜Fig. 3</a:t>
            </a:r>
            <a:endParaRPr lang="en-US" sz="2300" dirty="0"/>
          </a:p>
        </p:txBody>
      </p:sp>
      <p:pic>
        <p:nvPicPr>
          <p:cNvPr id="28" name="Image 0" descr="/workspace/scratch/hydrogel/presentation-v2/assets/R17-gr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102" y="2295144"/>
            <a:ext cx="3659380" cy="30632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135624" y="5660136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其中 (e) 为 β 肽累积释放；pH 5.5、7.0、8.5，单位 μg/mL。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57143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46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DD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工艺如何决定作用：这条因果链在案例中成立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6291072"/>
            <a:ext cx="11128248" cy="0"/>
          </a:xfrm>
          <a:prstGeom prst="line">
            <a:avLst/>
          </a:prstGeom>
          <a:noFill/>
          <a:ln w="10160">
            <a:solidFill>
              <a:srgbClr val="39556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代表性证据主要来自体外及动物模型；文献[20]的修复结果为小鼠感染糖尿病创面模型。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36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" y="224028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1D4354"/>
          </a:solidFill>
          <a:ln w="8890">
            <a:solidFill>
              <a:srgbClr val="4671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404872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2DD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成网方式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2376" y="2852928"/>
            <a:ext cx="1755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席夫碱 + TA氢键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87752" y="2926080"/>
            <a:ext cx="301752" cy="0"/>
          </a:xfrm>
          <a:prstGeom prst="line">
            <a:avLst/>
          </a:prstGeom>
          <a:noFill/>
          <a:ln w="25400">
            <a:solidFill>
              <a:srgbClr val="6ECBC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98648" y="224028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1D4354"/>
          </a:solidFill>
          <a:ln w="8890">
            <a:solidFill>
              <a:srgbClr val="4671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2404872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2DD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结构与界面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08376" y="2852928"/>
            <a:ext cx="1755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薄膜、吸液成胶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73752" y="2926080"/>
            <a:ext cx="301752" cy="0"/>
          </a:xfrm>
          <a:prstGeom prst="line">
            <a:avLst/>
          </a:prstGeom>
          <a:noFill/>
          <a:ln w="25400">
            <a:solidFill>
              <a:srgbClr val="6ECBC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84648" y="224028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1D4354"/>
          </a:solidFill>
          <a:ln w="8890">
            <a:solidFill>
              <a:srgbClr val="4671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2404872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2DD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组分传递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94376" y="2852928"/>
            <a:ext cx="1755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β肽随环境释放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159752" y="2926080"/>
            <a:ext cx="301752" cy="0"/>
          </a:xfrm>
          <a:prstGeom prst="line">
            <a:avLst/>
          </a:prstGeom>
          <a:noFill/>
          <a:ln w="25400">
            <a:solidFill>
              <a:srgbClr val="6ECBC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70648" y="224028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1D4354"/>
          </a:solidFill>
          <a:ln w="8890">
            <a:solidFill>
              <a:srgbClr val="4671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2404872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2DD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生物作用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80376" y="2852928"/>
            <a:ext cx="1755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菌落减少；SEM见膜结构受损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45752" y="2926080"/>
            <a:ext cx="301752" cy="0"/>
          </a:xfrm>
          <a:prstGeom prst="line">
            <a:avLst/>
          </a:prstGeom>
          <a:noFill/>
          <a:ln w="25400">
            <a:solidFill>
              <a:srgbClr val="6ECBC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56648" y="224028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22505F"/>
          </a:solidFill>
          <a:ln w="8890">
            <a:solidFill>
              <a:srgbClr val="4671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48088" y="2404872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2DD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适用性能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866376" y="2852928"/>
            <a:ext cx="1755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+ 猪皮黏附分别评价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31596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优化不能只看配方：要让成膜、释放、抗菌和湿态力学落在同一成品上。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5285232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结论来自指定配方与模型；临床适用性仍需研究。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57143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46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化工分析 / 答疑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备用｜扩散尺度用于提问，不能替代材料参数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6291072"/>
            <a:ext cx="11128248" cy="0"/>
          </a:xfrm>
          <a:prstGeom prst="line">
            <a:avLst/>
          </a:prstGeom>
          <a:noFill/>
          <a:ln w="1016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模型来自用户报告；结合文献[20]释放曲线讨论；非文献实测D_eff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36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572768"/>
            <a:ext cx="5623560" cy="4343400"/>
          </a:xfrm>
          <a:prstGeom prst="rect">
            <a:avLst>
              <a:gd name="adj" fmla="val 1684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特征扩散时间</a:t>
            </a:r>
            <a:endParaRPr lang="en-US" sz="2200" dirty="0"/>
          </a:p>
        </p:txBody>
      </p:sp>
      <p:pic>
        <p:nvPicPr>
          <p:cNvPr id="10" name="Image 0" descr="/workspace/scratch/hydrogel/presentation-v2/assets/dif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044" y="2505456"/>
            <a:ext cx="2488215" cy="1325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4206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t_D：s　　L：m　　D_eff：m²·s⁻¹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24128" y="489204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平板、一维扩散；忽略溶胀、降解、结合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56832" y="1572768"/>
            <a:ext cx="4800600" cy="4343400"/>
          </a:xfrm>
          <a:prstGeom prst="rect">
            <a:avLst>
              <a:gd name="adj" fmla="val 1684"/>
            </a:avLst>
          </a:prstGeom>
          <a:solidFill>
            <a:srgbClr val="DFF1EF"/>
          </a:solidFill>
          <a:ln w="8890">
            <a:solidFill>
              <a:srgbClr val="DFF1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31152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这篇成膜研究测了什么？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7013448" y="2642616"/>
            <a:ext cx="128016" cy="128016"/>
          </a:xfrm>
          <a:prstGeom prst="ellipse">
            <a:avLst/>
          </a:prstGeom>
          <a:solidFill>
            <a:srgbClr val="C77525"/>
          </a:solidFill>
          <a:ln w="6350">
            <a:solidFill>
              <a:srgbClr val="C7752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06056" y="25420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β肽的累积释放（不同pH）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013448" y="3300984"/>
            <a:ext cx="128016" cy="128016"/>
          </a:xfrm>
          <a:prstGeom prst="ellipse">
            <a:avLst/>
          </a:prstGeom>
          <a:solidFill>
            <a:srgbClr val="087F83"/>
          </a:solidFill>
          <a:ln w="6350">
            <a:solidFill>
              <a:srgbClr val="087F8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06056" y="32004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膜的力学与猪皮黏附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013448" y="3959352"/>
            <a:ext cx="128016" cy="128016"/>
          </a:xfrm>
          <a:prstGeom prst="ellipse">
            <a:avLst/>
          </a:prstGeom>
          <a:solidFill>
            <a:srgbClr val="3F7FB5"/>
          </a:solidFill>
          <a:ln w="6350">
            <a:solidFill>
              <a:srgbClr val="3F7F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06056" y="38587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体外菌落计数和SEM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949440" y="4828032"/>
            <a:ext cx="4160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原文未报告该曲线对应的 D_eff，也未做厚度系列对照。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57143"/>
            </a:avLst>
          </a:prstGeom>
          <a:solidFill>
            <a:srgbClr val="087F83"/>
          </a:solidFill>
          <a:ln w="8890">
            <a:solidFill>
              <a:srgbClr val="087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46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来源索引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备用｜主讲页所用文献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6291072"/>
            <a:ext cx="11128248" cy="0"/>
          </a:xfrm>
          <a:prstGeom prst="line">
            <a:avLst/>
          </a:prstGeom>
          <a:noFill/>
          <a:ln w="10160">
            <a:solidFill>
              <a:srgbClr val="CAD8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编号、DOI沿用上传Word；完整书目见课程报告。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36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755648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[3]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1755648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Jia et al. · Materials Today Bio, 2023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43584" y="211226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10.1016/j.mtbio.2023.100582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688336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[7]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3584" y="2688336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Zhong et al. · Frontiers in Chemistry, 2024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43584" y="30449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10.3389/fchem.2024.1376799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3621024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[11]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3584" y="3621024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Yang et al. · Advanced Science, 2021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43584" y="39776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10.1002/advs.202003627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4553712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[13]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43584" y="4553712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 et al. · Bioactive Materials, 2025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49103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10.1016/j.bioactmat.2025.08.024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3952" y="1755648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[14]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04304" y="1755648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Pranantyo et al. · Nature Communications, 2024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04304" y="211226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10.1038/s41467-024-44968-y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2688336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[15]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04304" y="2688336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Pranantyo et al. · Nature Communications, 2025 · 更正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04304" y="30449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10.1038/s41467-025-64329-7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73952" y="3621024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[17]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04304" y="3621024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 et al. · Bioactive Materials, 2022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04304" y="39776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10.1016/j.bioactmat.2021.07.023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73952" y="4553712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[20]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04304" y="4553712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Zhang et al. · Bioactive Materials, 2025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04304" y="49103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10.1016/j.bioactmat.2025.07.026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20" y="5669280"/>
            <a:ext cx="10881360" cy="429768"/>
          </a:xfrm>
          <a:prstGeom prst="rect">
            <a:avLst>
              <a:gd name="adj" fmla="val 17021"/>
            </a:avLst>
          </a:prstGeom>
          <a:solidFill>
            <a:srgbClr val="DFF1EF"/>
          </a:solidFill>
          <a:ln w="8890">
            <a:solidFill>
              <a:srgbClr val="DFF1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7150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数据图标注了论文图号；局部图像按原图像素裁切，未更改实验图数据。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医用抗菌水凝胶：制备工艺、抗菌机制及性能调控研究进展</dc:title>
  <dc:subject>医用抗菌水凝胶创面敷料的文献汇报</dc:subject>
  <dc:creator>杨果</dc:creator>
  <cp:lastModifiedBy>杨果</cp:lastModifiedBy>
  <cp:revision>1</cp:revision>
  <dcterms:created xsi:type="dcterms:W3CDTF">2026-10-07T03:28:56Z</dcterms:created>
  <dcterms:modified xsi:type="dcterms:W3CDTF">2026-10-07T03:28:56Z</dcterms:modified>
</cp:coreProperties>
</file>