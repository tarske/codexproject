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主讲建议：10秒。
大家好，我汇报的是医用抗菌水凝胶创面敷料的研究进展。今天主要从化工角度看一个问题：制备工艺怎样通过网络结构，影响抗菌作用和使用性能。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主讲建议：20秒。
高渗出液、活动部位和感染创面提出的要求不同。因此，先确定敷料要解决什么问题，再选择配方。我把文献整理成这条主线：工艺决定网络，网络影响活性组分的传递与接触，最后共同决定敷料的使用性能。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主讲建议：30秒。
这几类工艺各有侧重。冻融利用物理交联点，光交联要关注不同厚度下的受光，动态连接则在恢复和稳定之间取得平衡。喷涂成膜与三维打印把成型本身变成设计的一部分。因此，制品形态不只是外观，它会改变传质距离、受力方式和反应均匀性。
5分钟版本可补充：报告[8]采用365 nm紫外光照射15 s，这是具体照射步骤，不能直接作为通用成胶时间。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主讲建议：30秒。
释放型关注组分从内部到界面的供给，接触型关注固定化基团能否接触微生物。光热和催化路线还依赖外部能量或局部反应条件。以固定化体系为例，含量高并不保证界面有效暴露。这些机制都要回到网络结构上分析，不能只比较添加了哪种抗菌成分。
文献[14]存在作者更正[15]；本汇报不采用受更正影响的人皮肤等效模型定量结果。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主讲建议：40秒。
用两个简单关系可以把分析再推进一步。扩散时间与距离的平方有关，所以在有效扩散系数和边界条件近似不变时，距离加倍，特征时间约变成四倍。右边比较混合和成胶：如果局部先形成网络，整体就更难混匀。这个判据适用于混合后开始交联的体系；先混匀再光照的路线，要另外考察受光空间差异。这些都是模型分析，不是新增实验数据。
L单位m，D_eff单位m²·s⁻¹；各时间单位s。若溶胀、降解或结合反应明显，扩散尺度关系会偏离简化模型。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主讲建议：30秒。
报告中保留了一组同一体系的力学数据：改变单宁酸含量后，拉伸强度从零点零六兆帕左右变为零点二兆帕左右，屏幕上保留了标准差和原文精度。但力学增强不是终点，还要同时看液体交换、贴合与移除，以及组织相容性。配方优化是在这些约束之间找可用范围。
数据为文献[20]中的不同配方结果，不是本人的实验；不据此作跨论文排名。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主讲建议：20秒。
最后，我的判断是：先明确创面任务，再选择网络和抗菌方式；再用传质、流变和时间尺度理解加工，协调几项必要性能，最终落实到稳定成品。现有研究提供了设计思路，临床效果仍需继续验证。谢谢大家。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主讲建议：30秒。
这页用于五分钟版本或答疑。幂律模型中，流动指数在零和一之间时，剪切速率提高会降低表观黏度，有助于解释喷嘴内的流动。但模型是稳态描述，离开喷嘴后能否快速恢复，需要另外看时间依赖的流变恢复。两者不是同一项性质。
τ单位Pa，γ̇单位s⁻¹，K单位Pa·sⁿ，η_app单位Pa·s，n无量纲；忽略屈服应力，仅在选定剪切范围作局部描述。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主讲建议：0秒。
此页用于来源核对，不占主讲时间。编号沿用上传文档；[14]应与更正[15]共同阅读。全部主题内容由上传报告提炼，未添加未经核实的文献。
制作方法参考K-Dense-AI/scientific-agent-skills的scientific-slides skill；软件来源在随附交付说明中列出。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2DD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创面敷料 · 文献综述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医用抗菌水凝胶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3955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杨果  |  课程报告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56232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制备工艺、抗菌机制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及性能调控研究进展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21792" y="338328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2DD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——以创面敷料为例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4754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工艺如何改变结构，结构如何决定作用？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965692" y="2043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06840" y="2084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06840" y="2084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68612" y="2043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0" y="2084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0" y="2084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971532" y="2043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12680" y="2084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12680" y="2084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74452" y="2043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0" y="2084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0" y="2084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977372" y="2043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018520" y="2084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5692" y="2805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06840" y="2846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06840" y="2846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8612" y="2805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2846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2846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71532" y="2805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12680" y="2846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12680" y="2846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74452" y="2805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15600" y="2846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515600" y="2846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77372" y="2805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018520" y="2846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65692" y="3567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06840" y="3608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06840" y="3608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68612" y="3567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09760" y="3608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09760" y="3608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971532" y="3567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012680" y="3608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12680" y="3608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474452" y="3567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515600" y="3608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515600" y="3608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977372" y="3567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18520" y="3608832"/>
            <a:ext cx="0" cy="76200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965692" y="4329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06840" y="4370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468612" y="4329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09760" y="4370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971532" y="4329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012680" y="4370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474452" y="4329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515600" y="4370832"/>
            <a:ext cx="502920" cy="0"/>
          </a:xfrm>
          <a:prstGeom prst="line">
            <a:avLst/>
          </a:prstGeom>
          <a:noFill/>
          <a:ln w="17780">
            <a:solidFill>
              <a:srgbClr val="6ECBC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977372" y="4329684"/>
            <a:ext cx="82296" cy="82296"/>
          </a:xfrm>
          <a:prstGeom prst="ellipse">
            <a:avLst/>
          </a:prstGeom>
          <a:solidFill>
            <a:srgbClr val="6ECBC6"/>
          </a:solidFill>
          <a:ln w="12700">
            <a:solidFill>
              <a:srgbClr val="6ECBC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rot="1500000">
            <a:off x="9162288" y="2468880"/>
            <a:ext cx="237744" cy="109728"/>
          </a:xfrm>
          <a:prstGeom prst="roundRect">
            <a:avLst>
              <a:gd name="adj" fmla="val 83333"/>
            </a:avLst>
          </a:prstGeom>
          <a:solidFill>
            <a:srgbClr val="D9A66A"/>
          </a:solidFill>
          <a:ln w="12700">
            <a:solidFill>
              <a:srgbClr val="D9A66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500000">
            <a:off x="10104120" y="2468880"/>
            <a:ext cx="237744" cy="109728"/>
          </a:xfrm>
          <a:prstGeom prst="roundRect">
            <a:avLst>
              <a:gd name="adj" fmla="val 83333"/>
            </a:avLst>
          </a:prstGeom>
          <a:solidFill>
            <a:srgbClr val="D9A66A"/>
          </a:solidFill>
          <a:ln w="12700">
            <a:solidFill>
              <a:srgbClr val="D9A66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500000">
            <a:off x="9162288" y="3090672"/>
            <a:ext cx="237744" cy="109728"/>
          </a:xfrm>
          <a:prstGeom prst="roundRect">
            <a:avLst>
              <a:gd name="adj" fmla="val 83333"/>
            </a:avLst>
          </a:prstGeom>
          <a:solidFill>
            <a:srgbClr val="D9A66A"/>
          </a:solidFill>
          <a:ln w="12700">
            <a:solidFill>
              <a:srgbClr val="D9A66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rot="1500000">
            <a:off x="10104120" y="3090672"/>
            <a:ext cx="237744" cy="109728"/>
          </a:xfrm>
          <a:prstGeom prst="roundRect">
            <a:avLst>
              <a:gd name="adj" fmla="val 83333"/>
            </a:avLst>
          </a:prstGeom>
          <a:solidFill>
            <a:srgbClr val="D9A66A"/>
          </a:solidFill>
          <a:ln w="12700">
            <a:solidFill>
              <a:srgbClr val="D9A66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rot="1500000">
            <a:off x="9162288" y="3712464"/>
            <a:ext cx="237744" cy="109728"/>
          </a:xfrm>
          <a:prstGeom prst="roundRect">
            <a:avLst>
              <a:gd name="adj" fmla="val 83333"/>
            </a:avLst>
          </a:prstGeom>
          <a:solidFill>
            <a:srgbClr val="D9A66A"/>
          </a:solidFill>
          <a:ln w="12700">
            <a:solidFill>
              <a:srgbClr val="D9A66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86800" y="4663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亲水网络 × 活性组分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设计起点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先看创面任务，再选材料功能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依据：上传报告第1、6节；文献[1,3]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3611880" cy="960120"/>
          </a:xfrm>
          <a:prstGeom prst="rect">
            <a:avLst>
              <a:gd name="adj" fmla="val 11429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高渗出液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23591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吸液后保持完整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434840" y="1828800"/>
            <a:ext cx="3611880" cy="960120"/>
          </a:xfrm>
          <a:prstGeom prst="rect">
            <a:avLst>
              <a:gd name="adj" fmla="val 11429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94767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活动部位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7720" y="23591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反复形变仍能覆盖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1828800"/>
            <a:ext cx="3611880" cy="960120"/>
          </a:xfrm>
          <a:prstGeom prst="rect">
            <a:avLst>
              <a:gd name="adj" fmla="val 11429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194767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感染创面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458200" y="23591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控制微生物与界面暴露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8368" y="3657600"/>
            <a:ext cx="2468880" cy="777240"/>
          </a:xfrm>
          <a:prstGeom prst="rect">
            <a:avLst>
              <a:gd name="adj" fmla="val 14118"/>
            </a:avLst>
          </a:prstGeom>
          <a:solidFill>
            <a:srgbClr val="12344A"/>
          </a:solidFill>
          <a:ln w="7620">
            <a:solidFill>
              <a:srgbClr val="1234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0390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制备工艺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182112" y="4041648"/>
            <a:ext cx="320040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584448" y="3657600"/>
            <a:ext cx="2468880" cy="777240"/>
          </a:xfrm>
          <a:prstGeom prst="rect">
            <a:avLst>
              <a:gd name="adj" fmla="val 14118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75888" y="380390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网络结构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108192" y="4041648"/>
            <a:ext cx="320040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10528" y="3657600"/>
            <a:ext cx="2468880" cy="777240"/>
          </a:xfrm>
          <a:prstGeom prst="rect">
            <a:avLst>
              <a:gd name="adj" fmla="val 14118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01968" y="380390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抗菌作用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034272" y="4041648"/>
            <a:ext cx="320040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36608" y="3657600"/>
            <a:ext cx="2468880" cy="777240"/>
          </a:xfrm>
          <a:prstGeom prst="rect">
            <a:avLst>
              <a:gd name="adj" fmla="val 14118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28048" y="380390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使用性能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13232" y="52120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同一种活性成分，换一个网络，作用过程也可能改变。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制备工艺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交联与成型，改变的是网络的工作方式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依据：上传报告第2节；文献[7–9,13,20]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路线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9718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过程或原料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9788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结构变化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13648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化工关注点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2450592"/>
            <a:ext cx="11018520" cy="621792"/>
          </a:xfrm>
          <a:prstGeom prst="rect">
            <a:avLst>
              <a:gd name="adj" fmla="val 17647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560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物理交联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71800" y="2569464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PVA冻融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897880" y="2569464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结晶区与氢键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13648" y="2532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温度循环、吸液后稳定性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94360" y="3200400"/>
            <a:ext cx="11018520" cy="621792"/>
          </a:xfrm>
          <a:prstGeom prst="rect">
            <a:avLst>
              <a:gd name="adj" fmla="val 17647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3101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光引发交联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971800" y="3319272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功能化壳聚糖体系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897880" y="331927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可聚合结构成网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13648" y="32826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厚度与受光均匀性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94360" y="3950208"/>
            <a:ext cx="11018520" cy="621792"/>
          </a:xfrm>
          <a:prstGeom prst="rect">
            <a:avLst>
              <a:gd name="adj" fmla="val 17647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0599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动态交联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2971800" y="406908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席夫碱／配位等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897880" y="4069080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连接重排与恢复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613648" y="40325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流动与定形的平衡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94360" y="4700016"/>
            <a:ext cx="11018520" cy="621792"/>
          </a:xfrm>
          <a:prstGeom prst="rect">
            <a:avLst>
              <a:gd name="adj" fmla="val 17647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809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成膜与打印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2971800" y="4818888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喷涂蒸发／挤出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5897880" y="4818888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浓缩成网／流变控制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613648" y="4782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83A4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铺展、沉积与结构保持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31520" y="5596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制品形态不是最后一步：它同时改变受光、传质和受力。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抗菌机制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抗菌策略不同，控制变量也不同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依据：上传报告第3节；文献[3,13–17]  |  图为机制示意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874520"/>
            <a:ext cx="3611880" cy="4114800"/>
          </a:xfrm>
          <a:prstGeom prst="rect">
            <a:avLst>
              <a:gd name="adj" fmla="val 303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8483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释放型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273405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活性组分从网络迁出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37260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61872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03020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3020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6484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27632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27632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11096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52244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52244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35708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76856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7260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8408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8408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61872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3020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03020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6484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27632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27632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1096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52244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244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35708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76856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7260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8408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8408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61872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03020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03020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586484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27632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632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11096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2244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35708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276856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37260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78408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261872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303020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586484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627632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11096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52244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35708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600200" y="3858768"/>
            <a:ext cx="128016" cy="128016"/>
          </a:xfrm>
          <a:prstGeom prst="ellipse">
            <a:avLst/>
          </a:prstGeom>
          <a:solidFill>
            <a:srgbClr val="C77525"/>
          </a:solidFill>
          <a:ln w="12700">
            <a:solidFill>
              <a:srgbClr val="C7752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167128" y="3858768"/>
            <a:ext cx="128016" cy="128016"/>
          </a:xfrm>
          <a:prstGeom prst="ellipse">
            <a:avLst/>
          </a:prstGeom>
          <a:solidFill>
            <a:srgbClr val="C77525"/>
          </a:solidFill>
          <a:ln w="12700">
            <a:solidFill>
              <a:srgbClr val="C7752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34056" y="3858768"/>
            <a:ext cx="128016" cy="128016"/>
          </a:xfrm>
          <a:prstGeom prst="ellipse">
            <a:avLst/>
          </a:prstGeom>
          <a:solidFill>
            <a:srgbClr val="C77525"/>
          </a:solidFill>
          <a:ln w="12700">
            <a:solidFill>
              <a:srgbClr val="C7752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96312" y="4169664"/>
            <a:ext cx="640080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429000" y="3950208"/>
            <a:ext cx="228600" cy="228600"/>
          </a:xfrm>
          <a:prstGeom prst="ellipse">
            <a:avLst/>
          </a:prstGeom>
          <a:solidFill>
            <a:srgbClr val="12344A"/>
          </a:solidFill>
          <a:ln w="12700">
            <a:solidFill>
              <a:srgbClr val="1234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2960" y="5257800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控制供给过程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4434840" y="1874520"/>
            <a:ext cx="3611880" cy="4114800"/>
          </a:xfrm>
          <a:prstGeom prst="rect">
            <a:avLst>
              <a:gd name="adj" fmla="val 303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63440" y="208483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接触型</a:t>
            </a:r>
            <a:endParaRPr lang="en-US" sz="2600" dirty="0"/>
          </a:p>
        </p:txBody>
      </p:sp>
      <p:sp>
        <p:nvSpPr>
          <p:cNvPr id="70" name="Text 68"/>
          <p:cNvSpPr/>
          <p:nvPr/>
        </p:nvSpPr>
        <p:spPr>
          <a:xfrm>
            <a:off x="4663440" y="273405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固定化基团作用于界面</a:t>
            </a:r>
            <a:endParaRPr lang="en-US" sz="1900" dirty="0"/>
          </a:p>
        </p:txBody>
      </p:sp>
      <p:sp>
        <p:nvSpPr>
          <p:cNvPr id="71" name="Shape 69"/>
          <p:cNvSpPr/>
          <p:nvPr/>
        </p:nvSpPr>
        <p:spPr>
          <a:xfrm>
            <a:off x="4777740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18888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818888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02352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143500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143500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426964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468112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68112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751576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792724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92724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076188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17336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777740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818888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18888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02352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143500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143500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426964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468112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468112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751576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792724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792724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076188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17336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777740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818888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818888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02352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143500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143500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426964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468112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468112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751576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792724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792724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076188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117336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777740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818888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102352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43500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426964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468112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751576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792724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076188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117336" y="3675888"/>
            <a:ext cx="118872" cy="118872"/>
          </a:xfrm>
          <a:prstGeom prst="ellipse">
            <a:avLst/>
          </a:prstGeom>
          <a:solidFill>
            <a:srgbClr val="C77525"/>
          </a:solidFill>
          <a:ln w="12700">
            <a:solidFill>
              <a:srgbClr val="C77525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117336" y="3986784"/>
            <a:ext cx="118872" cy="118872"/>
          </a:xfrm>
          <a:prstGeom prst="ellipse">
            <a:avLst/>
          </a:prstGeom>
          <a:solidFill>
            <a:srgbClr val="C77525"/>
          </a:solidFill>
          <a:ln w="12700">
            <a:solidFill>
              <a:srgbClr val="C77525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117336" y="4297680"/>
            <a:ext cx="118872" cy="118872"/>
          </a:xfrm>
          <a:prstGeom prst="ellipse">
            <a:avLst/>
          </a:prstGeom>
          <a:solidFill>
            <a:srgbClr val="C77525"/>
          </a:solidFill>
          <a:ln w="12700">
            <a:solidFill>
              <a:srgbClr val="C7752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rot="1500000">
            <a:off x="6281928" y="3950208"/>
            <a:ext cx="502920" cy="201168"/>
          </a:xfrm>
          <a:prstGeom prst="roundRect">
            <a:avLst>
              <a:gd name="adj" fmla="val 45455"/>
            </a:avLst>
          </a:prstGeom>
          <a:solidFill>
            <a:srgbClr val="12344A"/>
          </a:solidFill>
          <a:ln w="12700">
            <a:solidFill>
              <a:srgbClr val="12344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663440" y="5257800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保证表面可及性</a:t>
            </a:r>
            <a:endParaRPr lang="en-US" sz="2100" dirty="0"/>
          </a:p>
        </p:txBody>
      </p:sp>
      <p:sp>
        <p:nvSpPr>
          <p:cNvPr id="127" name="Shape 125"/>
          <p:cNvSpPr/>
          <p:nvPr/>
        </p:nvSpPr>
        <p:spPr>
          <a:xfrm>
            <a:off x="8275320" y="1874520"/>
            <a:ext cx="3611880" cy="4114800"/>
          </a:xfrm>
          <a:prstGeom prst="rect">
            <a:avLst>
              <a:gd name="adj" fmla="val 303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503920" y="208483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光热／催化辅助</a:t>
            </a:r>
            <a:endParaRPr lang="en-US" sz="2600" dirty="0"/>
          </a:p>
        </p:txBody>
      </p:sp>
      <p:sp>
        <p:nvSpPr>
          <p:cNvPr id="129" name="Text 127"/>
          <p:cNvSpPr/>
          <p:nvPr/>
        </p:nvSpPr>
        <p:spPr>
          <a:xfrm>
            <a:off x="8503920" y="273405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光照或反应条件参与作用</a:t>
            </a:r>
            <a:endParaRPr lang="en-US" sz="1900" dirty="0"/>
          </a:p>
        </p:txBody>
      </p:sp>
      <p:sp>
        <p:nvSpPr>
          <p:cNvPr id="130" name="Shape 128"/>
          <p:cNvSpPr/>
          <p:nvPr/>
        </p:nvSpPr>
        <p:spPr>
          <a:xfrm>
            <a:off x="8618220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659368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659368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942832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983980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83980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7444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308592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308592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592056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633204" y="3593592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633204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916668" y="3552444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957816" y="3593592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618220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59368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659368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8942832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83980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8983980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7444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308592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9308592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592056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633204" y="3910584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633204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9916668" y="3869436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957816" y="3910584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618220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659368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659368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42832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8983980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983980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9267444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308592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308592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592056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633204" y="4227576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633204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916668" y="4186428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957816" y="4227576"/>
            <a:ext cx="0" cy="316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618220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8659368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42832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8983980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9267444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308592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592056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9633204" y="4544568"/>
            <a:ext cx="324612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916668" y="4503420"/>
            <a:ext cx="82296" cy="8229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116568" y="3255264"/>
            <a:ext cx="411480" cy="356616"/>
          </a:xfrm>
          <a:prstGeom prst="line">
            <a:avLst/>
          </a:prstGeom>
          <a:noFill/>
          <a:ln w="25400">
            <a:solidFill>
              <a:srgbClr val="C77525"/>
            </a:solidFill>
            <a:prstDash val="solid"/>
            <a:tailEnd type="triangle"/>
          </a:ln>
        </p:spPr>
      </p:sp>
      <p:sp>
        <p:nvSpPr>
          <p:cNvPr id="182" name="Shape 180"/>
          <p:cNvSpPr/>
          <p:nvPr/>
        </p:nvSpPr>
        <p:spPr>
          <a:xfrm>
            <a:off x="9573768" y="3191256"/>
            <a:ext cx="365760" cy="429768"/>
          </a:xfrm>
          <a:prstGeom prst="line">
            <a:avLst/>
          </a:prstGeom>
          <a:noFill/>
          <a:ln w="25400">
            <a:solidFill>
              <a:srgbClr val="C77525"/>
            </a:solidFill>
            <a:prstDash val="solid"/>
            <a:tailEnd type="triangle"/>
          </a:ln>
        </p:spPr>
      </p:sp>
      <p:sp>
        <p:nvSpPr>
          <p:cNvPr id="183" name="Text 181"/>
          <p:cNvSpPr/>
          <p:nvPr/>
        </p:nvSpPr>
        <p:spPr>
          <a:xfrm>
            <a:off x="10140696" y="37947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752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光／pH</a:t>
            </a:r>
            <a:endParaRPr lang="en-US" sz="2000" dirty="0"/>
          </a:p>
        </p:txBody>
      </p:sp>
      <p:sp>
        <p:nvSpPr>
          <p:cNvPr id="184" name="Text 182"/>
          <p:cNvSpPr/>
          <p:nvPr/>
        </p:nvSpPr>
        <p:spPr>
          <a:xfrm>
            <a:off x="8503920" y="5257800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控制能量与反应环境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化工模型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厚度和成胶速度，需要用时间尺度来判断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依据：上传报告第3.1、4.5节；尺度分析，非实验数据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883664"/>
            <a:ext cx="6720840" cy="4069080"/>
          </a:xfrm>
          <a:prstGeom prst="rect">
            <a:avLst>
              <a:gd name="adj" fmla="val 2697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扩散主导：距离加倍，时间约增至四倍</a:t>
            </a:r>
            <a:endParaRPr lang="en-US" sz="2300" dirty="0"/>
          </a:p>
        </p:txBody>
      </p:sp>
      <p:pic>
        <p:nvPicPr>
          <p:cNvPr id="10" name="Image 0" descr="/workspace/scratch/hydrogel/presentation/dif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3512" y="2706624"/>
            <a:ext cx="1819656" cy="96926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24128" y="3794760"/>
            <a:ext cx="420624" cy="914400"/>
          </a:xfrm>
          <a:prstGeom prst="rect">
            <a:avLst>
              <a:gd name="adj" fmla="val 26087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99816" y="3794760"/>
            <a:ext cx="841248" cy="914400"/>
          </a:xfrm>
          <a:prstGeom prst="rect">
            <a:avLst>
              <a:gd name="adj" fmla="val 13043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0976" y="482803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127248" y="4828032"/>
            <a:ext cx="777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2L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691640" y="4251960"/>
            <a:ext cx="1024128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4709160" y="38039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1×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5605272" y="3803904"/>
            <a:ext cx="594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190488" y="38039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752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4×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4663440" y="47731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特征扩散时间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96112" y="5486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均匀平板；Dₑff与边界条件近似不变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552944" y="1883664"/>
            <a:ext cx="4050792" cy="4069080"/>
          </a:xfrm>
          <a:prstGeom prst="rect">
            <a:avLst>
              <a:gd name="adj" fmla="val 2709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18120" y="2103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先混匀，再形成网络</a:t>
            </a:r>
            <a:endParaRPr lang="en-US" sz="2300" dirty="0"/>
          </a:p>
        </p:txBody>
      </p:sp>
      <p:pic>
        <p:nvPicPr>
          <p:cNvPr id="23" name="Image 1" descr="/workspace/scratch/hydrogel/presentation/mix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779776"/>
            <a:ext cx="2359152" cy="82296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927848" y="3685032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</a:t>
            </a:r>
            <a:pPr indent="0" marL="0">
              <a:buNone/>
            </a:pPr>
            <a:r>
              <a:rPr lang="en-US" sz="2200" baseline="-400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</a:t>
            </a:r>
            <a:pPr indent="0" marL="0">
              <a:buNone/>
            </a:pPr>
            <a:r>
              <a:rPr lang="en-US" sz="22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：混合时间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</a:t>
            </a:r>
            <a:pPr indent="0" marL="0">
              <a:buNone/>
            </a:pPr>
            <a:r>
              <a:rPr lang="en-US" sz="2200" baseline="-400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</a:t>
            </a:r>
            <a:pPr indent="0" marL="0">
              <a:buNone/>
            </a:pPr>
            <a:r>
              <a:rPr lang="en-US" sz="22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：成胶时间</a:t>
            </a:r>
            <a:endParaRPr lang="en-US" sz="2200" dirty="0"/>
          </a:p>
        </p:txBody>
      </p:sp>
      <p:sp>
        <p:nvSpPr>
          <p:cNvPr id="25" name="Text 21"/>
          <p:cNvSpPr/>
          <p:nvPr/>
        </p:nvSpPr>
        <p:spPr>
          <a:xfrm>
            <a:off x="7882128" y="50932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适用于混合后即交联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且要求整体均匀的体系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性能调控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增强一个指标，仍要看整张敷料是否可用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文献数据：[20] Zhang等，Bioactive Materials，2025  |  均值±标准差，n=3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4088" y="1911096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同一膜体系：改变单宁酸含量后，拉伸强度发生变化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4599432" cy="1307592"/>
          </a:xfrm>
          <a:prstGeom prst="rect">
            <a:avLst>
              <a:gd name="adj" fmla="val 8392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88036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(0.06 ± 0.01) MPa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5468112" y="3291840"/>
            <a:ext cx="987552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656832" y="2651760"/>
            <a:ext cx="4599432" cy="1307592"/>
          </a:xfrm>
          <a:prstGeom prst="rect">
            <a:avLst>
              <a:gd name="adj" fmla="val 8392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2880360"/>
            <a:ext cx="4279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(0.2 ± 0.04) MPa</a:t>
            </a:r>
            <a:endParaRPr lang="en-US" sz="3100" dirty="0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3639312" cy="914400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4663440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网络稳定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359152" y="46908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752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688336" y="4663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液体交换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526280" y="4572000"/>
            <a:ext cx="3639312" cy="914400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4663440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贴合黏附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153912" y="46908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752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↔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83096" y="4663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换药移除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321040" y="4572000"/>
            <a:ext cx="3639312" cy="914400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49056" y="4663440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抗菌作用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948672" y="46908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752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↔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277856" y="4663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组织相容性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04672" y="571500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配方优化是在约束之间找可用范围。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2DD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我的判断：先明确任务，再协调性能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3955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所选原始研究以体外及动物模型为主；临床有效性仍需进一步验证。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97510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CB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00200" y="1975104"/>
            <a:ext cx="2743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工艺决定结构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4718304" y="2039112"/>
            <a:ext cx="6400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交联与成型改变传递、受力和界面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CB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00200" y="3163824"/>
            <a:ext cx="2743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机制约束工艺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718304" y="3227832"/>
            <a:ext cx="6400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释放看供给，接触看可及性，刺激看条件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435254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CB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600200" y="4352544"/>
            <a:ext cx="2743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优化落在成品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718304" y="4416552"/>
            <a:ext cx="6400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D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协调必要性能，并保持批次一致性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" y="5715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2DDD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谢谢，欢迎讨论。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答疑 / 5分钟补充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备用｜剪切变稀解释挤出，恢复性决定沉积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依据：上传报告第2.5节；文献[12,13]  |  通用幂律描述，未拟合材料参数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1200" dirty="0"/>
          </a:p>
        </p:txBody>
      </p:sp>
      <p:pic>
        <p:nvPicPr>
          <p:cNvPr id="8" name="Image 0" descr="/workspace/scratch/hydrogel/presentation/rhe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856232"/>
            <a:ext cx="8138160" cy="11338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1729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&lt; n &lt; 1：剪切速率增加，表观黏度降低</a:t>
            </a:r>
            <a:endParaRPr lang="en-US" sz="2500" dirty="0"/>
          </a:p>
        </p:txBody>
      </p:sp>
      <p:sp>
        <p:nvSpPr>
          <p:cNvPr id="10" name="Shape 7"/>
          <p:cNvSpPr/>
          <p:nvPr/>
        </p:nvSpPr>
        <p:spPr>
          <a:xfrm>
            <a:off x="804672" y="4169664"/>
            <a:ext cx="4919472" cy="1261872"/>
          </a:xfrm>
          <a:prstGeom prst="rect">
            <a:avLst>
              <a:gd name="adj" fmla="val 869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4325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喷嘴内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024128" y="4818888"/>
            <a:ext cx="4480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受剪切 → 易流动、便于挤出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934456" y="4791456"/>
            <a:ext cx="530352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684264" y="4169664"/>
            <a:ext cx="4663440" cy="1261872"/>
          </a:xfrm>
          <a:prstGeom prst="rect">
            <a:avLst>
              <a:gd name="adj" fmla="val 8696"/>
            </a:avLst>
          </a:prstGeom>
          <a:solidFill>
            <a:srgbClr val="DFF1EF"/>
          </a:solidFill>
          <a:ln w="7620">
            <a:solidFill>
              <a:srgbClr val="DFF1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03720" y="432511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沉积后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903720" y="4818888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恢复结构 → 支撑打印形状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14400" y="5760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稳态幂律关系不包含时间依赖恢复，也不单独证明自支撑。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>
              <a:gd name="adj" fmla="val 85714"/>
            </a:avLst>
          </a:prstGeom>
          <a:solidFill>
            <a:srgbClr val="087F83"/>
          </a:solidFill>
          <a:ln w="7620">
            <a:solidFill>
              <a:srgbClr val="087F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来源索引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备用｜主要文献与来源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64224"/>
            <a:ext cx="11155680" cy="0"/>
          </a:xfrm>
          <a:prstGeom prst="line">
            <a:avLst/>
          </a:prstGeom>
          <a:noFill/>
          <a:ln w="10160">
            <a:solidFill>
              <a:srgbClr val="CAD8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473952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编号沿用上传Word文档；完整21项参考文献见课程报告。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[1] GOUNDEN &amp; SINGH · Gels, 2024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084832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10.3390/gels10010043.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32304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[3] JIA et al. · Materials Today Bio, 2023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688336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10.1016/j.mtbio.2023.100582.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035808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[7] ZHONG et al. · Frontiers in Chemistry, 2024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291840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10.3389/fchem.2024.1376799.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39312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[8] YANG et al. · Bioactive Materials, 2022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895344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10.1016/j.bioactmat.2021.06.014.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242816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[9] QIAO et al. · Bioactive Materials, 2023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498848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10.1016/j.bioactmat.2023.07.015.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846320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[12] ZHOU et al. · Advanced Science, 2024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102352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10.1002/advs.202404580.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1828800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[13] CHEN et al. · Bioactive Materials, 2025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2084832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10.1016/j.bioactmat.2025.08.024.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46520" y="2432304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[14] PRANANTYO et al. · Nature Communications, 2024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2688336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10.1038/s41467-024-44968-y.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46520" y="3035808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[15] PRANANTYO et al. · Nat. Commun.（更正）, 2025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3291840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10.1038/s41467-025-64329-7.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46520" y="3639312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[16] ZENG et al. · Bioactive Materials, 2021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46520" y="3895344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10.1016/j.bioactmat.2021.01.035.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46520" y="4242816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[17] LI et al. · Bioactive Materials, 2022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4498848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10.1016/j.bioactmat.2021.07.023.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4846320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[20] ZHANG et al. · Bioactive Materials, 2025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46520" y="5102352"/>
            <a:ext cx="5394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77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10.1016/j.bioactmat.2025.07.026.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55664" y="5577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7F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资料来源：用户上传课程报告及本任务已核对的文献记录。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医用抗菌水凝胶的制备工艺、抗菌机制及性能调控研究进展</dc:title>
  <dc:subject>医用抗菌水凝胶创面敷料：课程汇报</dc:subject>
  <dc:creator>杨果</dc:creator>
  <cp:lastModifiedBy>杨果</cp:lastModifiedBy>
  <cp:revision>1</cp:revision>
  <dcterms:created xsi:type="dcterms:W3CDTF">2026-10-07T02:56:52Z</dcterms:created>
  <dcterms:modified xsi:type="dcterms:W3CDTF">2026-10-07T02:56:52Z</dcterms:modified>
</cp:coreProperties>
</file>